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3"/>
    <p:sldId id="16140622" r:id="rId4"/>
    <p:sldId id="262" r:id="rId5"/>
    <p:sldId id="265" r:id="rId6"/>
    <p:sldId id="16140627" r:id="rId7"/>
    <p:sldId id="16140641" r:id="rId8"/>
    <p:sldId id="266" r:id="rId9"/>
    <p:sldId id="16140624" r:id="rId10"/>
    <p:sldId id="16140635" r:id="rId11"/>
    <p:sldId id="16140643" r:id="rId12"/>
    <p:sldId id="16140636" r:id="rId13"/>
    <p:sldId id="16140640" r:id="rId14"/>
    <p:sldId id="16140637" r:id="rId15"/>
    <p:sldId id="16140638" r:id="rId16"/>
    <p:sldId id="16140647" r:id="rId17"/>
    <p:sldId id="16140648" r:id="rId18"/>
    <p:sldId id="267" r:id="rId19"/>
    <p:sldId id="16140644" r:id="rId20"/>
    <p:sldId id="16140645" r:id="rId21"/>
    <p:sldId id="16140649" r:id="rId22"/>
    <p:sldId id="16140650" r:id="rId23"/>
    <p:sldId id="16140646" r:id="rId24"/>
    <p:sldId id="268" r:id="rId25"/>
    <p:sldId id="16140623" r:id="rId26"/>
    <p:sldId id="269" r:id="rId27"/>
    <p:sldId id="25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38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1" autoAdjust="0"/>
    <p:restoredTop sz="94660"/>
  </p:normalViewPr>
  <p:slideViewPr>
    <p:cSldViewPr snapToGrid="0" showGuides="1">
      <p:cViewPr varScale="1">
        <p:scale>
          <a:sx n="59" d="100"/>
          <a:sy n="59" d="100"/>
        </p:scale>
        <p:origin x="956" y="52"/>
      </p:cViewPr>
      <p:guideLst>
        <p:guide orient="horz" pos="2168"/>
        <p:guide pos="381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customXml" Target="../customXml/item3.xml"/><Relationship Id="rId34" Type="http://schemas.openxmlformats.org/officeDocument/2006/relationships/customXml" Target="../customXml/item2.xml"/><Relationship Id="rId33" Type="http://schemas.openxmlformats.org/officeDocument/2006/relationships/customXml" Target="../customXml/item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8" name="Date Placeholder 7"/>
          <p:cNvSpPr>
            <a:spLocks noGrp="1"/>
          </p:cNvSpPr>
          <p:nvPr>
            <p:ph type="dt" sz="half" idx="10"/>
          </p:nvPr>
        </p:nvSpPr>
        <p:spPr/>
        <p:txBody>
          <a:bodyPr/>
          <a:lstStyle/>
          <a:p>
            <a:fld id="{ED291B17-9318-49DB-B28B-6E5994AE9581}"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endParaRPr lang="en-US"/>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Date Placeholder 7"/>
          <p:cNvSpPr>
            <a:spLocks noGrp="1"/>
          </p:cNvSpPr>
          <p:nvPr>
            <p:ph type="dt" sz="half" idx="10"/>
          </p:nvPr>
        </p:nvSpPr>
        <p:spPr/>
        <p:txBody>
          <a:bodyPr/>
          <a:lstStyle/>
          <a:p>
            <a:fld id="{78DD82B9-B8EE-4375-B6FF-88FA6ABB15D9}" type="datetime1">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2497495-0637-405E-AE64-5CC7506D51F5}"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endParaRPr lang="en-US"/>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FFD690-9426-415D-8B65-26881E07B2D4}"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endParaRPr lang="en-US"/>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4C4989A-474C-40DE-95B9-011C28B71673}" type="datetime1">
              <a:rPr lang="en-US" smtClean="0"/>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DB4ED54-5B5E-4A04-93D3-5772E3CE3818}" type="datetime1">
              <a:rPr lang="en-US" smtClean="0"/>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18DB4A-8810-4A10-AD5C-D5E2C667F5B3}"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CED4963-E985-44C4-B8C4-FDD613B7C2F8}" type="datetime1">
              <a:rPr lang="en-US" smtClean="0"/>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2"/>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108" y="1821635"/>
            <a:ext cx="9144000" cy="977778"/>
          </a:xfrm>
        </p:spPr>
        <p:txBody>
          <a:bodyPr/>
          <a:lstStyle/>
          <a:p>
            <a:pPr algn="ctr"/>
            <a:r>
              <a:rPr lang="en-US" altLang="en-US" b="1">
                <a:solidFill>
                  <a:schemeClr val="accent1"/>
                </a:solidFill>
                <a:latin typeface="Arial" panose="020B0604020202020204" pitchFamily="34" charset="0"/>
                <a:cs typeface="Arial" panose="020B0604020202020204" pitchFamily="34" charset="0"/>
              </a:rPr>
              <a:t>Employee Salary Prediction</a:t>
            </a:r>
            <a:endParaRPr lang="en-US" altLang="en-US" b="1">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endParaRPr lang="en-US" sz="3200" b="1">
              <a:solidFill>
                <a:schemeClr val="accent1">
                  <a:lumMod val="75000"/>
                </a:schemeClr>
              </a:solidFill>
              <a:latin typeface="Arial" panose="020B0604020202020204"/>
              <a:cs typeface="Arial" panose="020B0604020202020204"/>
            </a:endParaRPr>
          </a:p>
        </p:txBody>
      </p:sp>
      <p:sp>
        <p:nvSpPr>
          <p:cNvPr id="4" name="TextBox 3"/>
          <p:cNvSpPr txBox="1"/>
          <p:nvPr/>
        </p:nvSpPr>
        <p:spPr>
          <a:xfrm>
            <a:off x="1898015" y="4586605"/>
            <a:ext cx="9199245" cy="1053465"/>
          </a:xfrm>
          <a:prstGeom prst="rect">
            <a:avLst/>
          </a:prstGeom>
          <a:noFill/>
        </p:spPr>
        <p:txBody>
          <a:bodyPr wrap="square" lIns="91440" tIns="45720" rIns="91440" bIns="45720" rtlCol="0" anchor="t">
            <a:noAutofit/>
          </a:bodyPr>
          <a:lstStyle/>
          <a:p>
            <a:r>
              <a:rPr lang="en-US" sz="2000" b="1">
                <a:solidFill>
                  <a:schemeClr val="accent1">
                    <a:lumMod val="75000"/>
                  </a:schemeClr>
                </a:solidFill>
                <a:latin typeface="Arial" panose="020B0604020202020204" pitchFamily="34" charset="0"/>
                <a:cs typeface="Arial" panose="020B0604020202020204" pitchFamily="34" charset="0"/>
              </a:rPr>
              <a:t>Presented By:</a:t>
            </a:r>
            <a:endParaRPr lang="en-US" sz="2000" b="1">
              <a:solidFill>
                <a:schemeClr val="accent1">
                  <a:lumMod val="75000"/>
                </a:schemeClr>
              </a:solidFill>
              <a:latin typeface="Arial" panose="020B0604020202020204" pitchFamily="34" charset="0"/>
              <a:cs typeface="Arial" panose="020B0604020202020204" pitchFamily="34" charset="0"/>
            </a:endParaRPr>
          </a:p>
          <a:p>
            <a:r>
              <a:rPr lang="en-US" sz="2000" b="1">
                <a:solidFill>
                  <a:schemeClr val="accent1">
                    <a:lumMod val="75000"/>
                  </a:schemeClr>
                </a:solidFill>
                <a:latin typeface="Arial" panose="020B0604020202020204"/>
                <a:cs typeface="Arial" panose="020B0604020202020204"/>
              </a:rPr>
              <a:t>Ayush Kumar-NIT Meghalaya-Electrical and Electronics Engineering</a:t>
            </a:r>
            <a:endParaRPr lang="en-US" sz="2000" b="1">
              <a:solidFill>
                <a:schemeClr val="accent1">
                  <a:lumMod val="75000"/>
                </a:schemeClr>
              </a:solidFill>
              <a:latin typeface="Arial" panose="020B0604020202020204"/>
              <a:cs typeface="Arial" panose="020B0604020202020204"/>
            </a:endParaRPr>
          </a:p>
          <a:p>
            <a:r>
              <a:rPr lang="en-US" altLang="en-US" sz="2000" b="1">
                <a:solidFill>
                  <a:schemeClr val="accent1">
                    <a:lumMod val="75000"/>
                  </a:schemeClr>
                </a:solidFill>
                <a:latin typeface="Arial" panose="020B0604020202020204"/>
                <a:cs typeface="Arial" panose="020B0604020202020204"/>
              </a:rPr>
              <a:t>AICTE Internship Student Registration ID : STU667957118f2541719228177</a:t>
            </a:r>
            <a:endParaRPr lang="en-US" altLang="en-US" sz="2000" b="1">
              <a:solidFill>
                <a:schemeClr val="accent1">
                  <a:lumMod val="75000"/>
                </a:schemeClr>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endParaRPr lang="en-US" b="1">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panose="020B0604020202020204"/>
                <a:ea typeface="+mn-lt"/>
                <a:cs typeface="Arial" panose="020B0604020202020204"/>
              </a:rPr>
              <a:t>  </a:t>
            </a:r>
            <a:endParaRPr lang="en-US" dirty="0">
              <a:latin typeface="Arial" panose="020B0604020202020204"/>
              <a:cs typeface="Arial" panose="020B0604020202020204"/>
            </a:endParaRPr>
          </a:p>
          <a:p>
            <a:pPr marL="305435" indent="-305435"/>
            <a:r>
              <a:rPr lang="en-US" sz="2000" b="1" dirty="0">
                <a:latin typeface="Arial" panose="020B0604020202020204"/>
                <a:ea typeface="+mn-lt"/>
                <a:cs typeface="Arial" panose="020B0604020202020204"/>
              </a:rPr>
              <a:t>Problem Statement </a:t>
            </a:r>
            <a:r>
              <a:rPr lang="en-US" sz="2000" dirty="0">
                <a:latin typeface="Arial" panose="020B0604020202020204"/>
                <a:ea typeface="+mn-lt"/>
                <a:cs typeface="Arial" panose="020B0604020202020204"/>
              </a:rPr>
              <a:t>(Should not include solution)</a:t>
            </a:r>
            <a:endParaRPr lang="en-US" dirty="0">
              <a:latin typeface="Arial" panose="020B0604020202020204"/>
              <a:cs typeface="Arial" panose="020B0604020202020204"/>
            </a:endParaRPr>
          </a:p>
          <a:p>
            <a:pPr marL="305435" indent="-305435"/>
            <a:r>
              <a:rPr lang="en-US" sz="2000" b="1" dirty="0">
                <a:latin typeface="Arial" panose="020B0604020202020204"/>
                <a:ea typeface="+mn-lt"/>
                <a:cs typeface="Calibri" panose="020F0502020204030204"/>
              </a:rPr>
              <a:t>System </a:t>
            </a:r>
            <a:r>
              <a:rPr lang="en-US" sz="2000" b="1" dirty="0">
                <a:latin typeface="Arial" panose="020B0604020202020204"/>
                <a:ea typeface="+mn-lt"/>
                <a:cs typeface="+mn-lt"/>
              </a:rPr>
              <a:t>Development Approach </a:t>
            </a:r>
            <a:r>
              <a:rPr lang="en-US" sz="2000" dirty="0">
                <a:latin typeface="Arial" panose="020B0604020202020204"/>
                <a:ea typeface="+mn-lt"/>
                <a:cs typeface="+mn-lt"/>
              </a:rPr>
              <a:t>(Technology Used) </a:t>
            </a:r>
            <a:endParaRPr lang="en-US" dirty="0">
              <a:latin typeface="Arial" panose="020B0604020202020204"/>
              <a:ea typeface="+mn-lt"/>
              <a:cs typeface="+mn-lt"/>
            </a:endParaRPr>
          </a:p>
          <a:p>
            <a:pPr marL="305435" indent="-305435"/>
            <a:r>
              <a:rPr lang="en-US" sz="2000" b="1" dirty="0">
                <a:latin typeface="Arial" panose="020B0604020202020204"/>
                <a:ea typeface="+mn-lt"/>
                <a:cs typeface="+mn-lt"/>
              </a:rPr>
              <a:t>Algorithm &amp; Deployment (Step by Step  Procedure) </a:t>
            </a:r>
            <a:endParaRPr lang="en-US" dirty="0">
              <a:latin typeface="Arial" panose="020B0604020202020204"/>
              <a:cs typeface="Calibri" panose="020F0502020204030204"/>
            </a:endParaRPr>
          </a:p>
          <a:p>
            <a:pPr marL="305435" indent="-305435"/>
            <a:r>
              <a:rPr lang="en-US" sz="2000" b="1" dirty="0">
                <a:latin typeface="Arial" panose="020B0604020202020204"/>
                <a:ea typeface="+mn-lt"/>
                <a:cs typeface="Arial" panose="020B0604020202020204"/>
              </a:rPr>
              <a:t>Result</a:t>
            </a:r>
            <a:endParaRPr lang="en-US" sz="2000" b="1" dirty="0">
              <a:latin typeface="Arial" panose="020B0604020202020204"/>
              <a:ea typeface="+mn-lt"/>
              <a:cs typeface="Arial" panose="020B0604020202020204"/>
            </a:endParaRPr>
          </a:p>
          <a:p>
            <a:pPr marL="305435" indent="-305435"/>
            <a:r>
              <a:rPr lang="en-US" sz="2000" b="1" dirty="0">
                <a:latin typeface="Arial" panose="020B0604020202020204"/>
                <a:ea typeface="+mn-lt"/>
                <a:cs typeface="Arial" panose="020B0604020202020204"/>
              </a:rPr>
              <a:t>Conclusion</a:t>
            </a:r>
            <a:endParaRPr lang="en-US" dirty="0">
              <a:latin typeface="Arial" panose="020B0604020202020204"/>
              <a:cs typeface="Arial" panose="020B0604020202020204"/>
            </a:endParaRPr>
          </a:p>
          <a:p>
            <a:pPr marL="305435" indent="-305435"/>
            <a:r>
              <a:rPr lang="en-US" sz="2000" b="1" dirty="0">
                <a:latin typeface="Arial" panose="020B0604020202020204"/>
                <a:ea typeface="+mn-lt"/>
                <a:cs typeface="Arial" panose="020B0604020202020204"/>
              </a:rPr>
              <a:t>Future Scope(</a:t>
            </a:r>
            <a:r>
              <a:rPr lang="en-US" sz="2000" b="1" dirty="0" err="1">
                <a:latin typeface="Arial" panose="020B0604020202020204"/>
                <a:ea typeface="+mn-lt"/>
                <a:cs typeface="Arial" panose="020B0604020202020204"/>
              </a:rPr>
              <a:t>Optonal</a:t>
            </a:r>
            <a:r>
              <a:rPr lang="en-US" sz="2000" b="1" dirty="0">
                <a:latin typeface="Arial" panose="020B0604020202020204"/>
                <a:ea typeface="+mn-lt"/>
                <a:cs typeface="Arial" panose="020B0604020202020204"/>
              </a:rPr>
              <a:t>)</a:t>
            </a:r>
            <a:endParaRPr lang="en-US" sz="2000" b="1" dirty="0">
              <a:latin typeface="Arial" panose="020B0604020202020204"/>
              <a:ea typeface="+mn-lt"/>
              <a:cs typeface="Arial" panose="020B0604020202020204"/>
            </a:endParaRPr>
          </a:p>
          <a:p>
            <a:pPr marL="305435" indent="-305435"/>
            <a:r>
              <a:rPr lang="en-US" sz="2000" b="1" dirty="0">
                <a:latin typeface="Arial" panose="020B0604020202020204"/>
                <a:ea typeface="+mn-lt"/>
                <a:cs typeface="Arial" panose="020B0604020202020204"/>
              </a:rPr>
              <a:t>References</a:t>
            </a:r>
            <a:endParaRPr lang="en-US" dirty="0">
              <a:latin typeface="Arial" panose="020B0604020202020204"/>
              <a:cs typeface="Arial" panose="020B0604020202020204"/>
            </a:endParaRPr>
          </a:p>
          <a:p>
            <a:pPr marL="305435" indent="-305435"/>
            <a:endParaRPr lang="en-US" dirty="0">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p:cNvSpPr>
            <a:spLocks noGrp="1"/>
          </p:cNvSpPr>
          <p:nvPr>
            <p:ph idx="1"/>
          </p:nvPr>
        </p:nvSpPr>
        <p:spPr>
          <a:xfrm>
            <a:off x="452403" y="1237632"/>
            <a:ext cx="11029615" cy="4673324"/>
          </a:xfrm>
        </p:spPr>
        <p:txBody>
          <a:bodyPr>
            <a:normAutofit/>
          </a:bodyPr>
          <a:lstStyle/>
          <a:p>
            <a:pPr marL="305435" indent="-305435"/>
            <a:r>
              <a:rPr lang="en-US" altLang="en-US" sz="2800" b="1" dirty="0"/>
              <a:t>This project aims to develop a machine learning-based salary prediction system that can accurately predict employee salaries based on key features. The goal is to assist HR professionals and management in making data-driven decisions regarding compensation, ensuring fairness, transparency, and efficiency in salary determination processes</a:t>
            </a:r>
            <a:endParaRPr lang="en-US" altLang="en-US" sz="2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sp>
        <p:nvSpPr>
          <p:cNvPr id="2" name="Content Placeholder 1"/>
          <p:cNvSpPr>
            <a:spLocks noGrp="1"/>
          </p:cNvSpPr>
          <p:nvPr>
            <p:ph idx="1"/>
          </p:nvPr>
        </p:nvSpPr>
        <p:spPr>
          <a:xfrm>
            <a:off x="581025" y="1301750"/>
            <a:ext cx="11029315" cy="5055870"/>
          </a:xfrm>
        </p:spPr>
        <p:txBody>
          <a:bodyPr>
            <a:normAutofit fontScale="90000"/>
          </a:bodyPr>
          <a:lstStyle/>
          <a:p>
            <a:pPr marL="0" indent="0">
              <a:buNone/>
            </a:pPr>
            <a:r>
              <a:rPr lang="en-IN" sz="2800" b="1" dirty="0">
                <a:solidFill>
                  <a:srgbClr val="0F0F0F"/>
                </a:solidFill>
                <a:ea typeface="+mn-lt"/>
                <a:cs typeface="+mn-lt"/>
              </a:rPr>
              <a:t>The "System Approach" section outlines the overall strategy and methodology for developing and implementing. Here's a suggested structure for this section:</a:t>
            </a:r>
            <a:endParaRPr lang="en-US" sz="2800" dirty="0"/>
          </a:p>
          <a:p>
            <a:pPr marL="305435" indent="-305435"/>
            <a:r>
              <a:rPr lang="en-IN" sz="2800" b="1" u="sng" dirty="0">
                <a:solidFill>
                  <a:srgbClr val="0F0F0F"/>
                </a:solidFill>
              </a:rPr>
              <a:t>System requirements</a:t>
            </a:r>
            <a:r>
              <a:rPr lang="en-US" altLang="en-IN" sz="2800" b="1" dirty="0">
                <a:solidFill>
                  <a:srgbClr val="0F0F0F"/>
                </a:solidFill>
              </a:rPr>
              <a:t> :</a:t>
            </a:r>
            <a:endParaRPr lang="en-US" altLang="en-IN" sz="2800" b="1" dirty="0">
              <a:solidFill>
                <a:srgbClr val="0F0F0F"/>
              </a:solidFill>
            </a:endParaRPr>
          </a:p>
          <a:p>
            <a:pPr marL="0" indent="0">
              <a:buNone/>
            </a:pPr>
            <a:r>
              <a:rPr lang="en-US" altLang="en-US" sz="2800" b="1" dirty="0">
                <a:solidFill>
                  <a:srgbClr val="0F0F0F"/>
                </a:solidFill>
              </a:rPr>
              <a:t>  Hardware Requirements:</a:t>
            </a:r>
            <a:endParaRPr lang="en-US" altLang="en-US" sz="2800" b="1" dirty="0">
              <a:solidFill>
                <a:srgbClr val="0F0F0F"/>
              </a:solidFill>
            </a:endParaRPr>
          </a:p>
          <a:p>
            <a:pPr marL="0" indent="0">
              <a:buNone/>
            </a:pPr>
            <a:r>
              <a:rPr lang="en-US" altLang="en-US" sz="2800" b="1" dirty="0">
                <a:solidFill>
                  <a:srgbClr val="0F0F0F"/>
                </a:solidFill>
              </a:rPr>
              <a:t>         Processor: Intel Core i3 or higher / AMD Ryzen equivalent</a:t>
            </a:r>
            <a:endParaRPr lang="en-US" altLang="en-US" sz="2800" b="1" dirty="0">
              <a:solidFill>
                <a:srgbClr val="0F0F0F"/>
              </a:solidFill>
            </a:endParaRPr>
          </a:p>
          <a:p>
            <a:pPr marL="0" indent="0">
              <a:buNone/>
            </a:pPr>
            <a:r>
              <a:rPr lang="en-US" altLang="en-US" sz="2800" b="1" dirty="0">
                <a:solidFill>
                  <a:srgbClr val="0F0F0F"/>
                </a:solidFill>
              </a:rPr>
              <a:t>         RAM: Minimum 4 GB (8 GB or higher recommended for faster processing)</a:t>
            </a:r>
            <a:endParaRPr lang="en-US" altLang="en-US" sz="2800" b="1" dirty="0">
              <a:solidFill>
                <a:srgbClr val="0F0F0F"/>
              </a:solidFill>
            </a:endParaRPr>
          </a:p>
          <a:p>
            <a:pPr marL="0" indent="0">
              <a:buNone/>
            </a:pPr>
            <a:r>
              <a:rPr lang="en-US" altLang="en-US" sz="2800" b="1" dirty="0">
                <a:solidFill>
                  <a:srgbClr val="0F0F0F"/>
                </a:solidFill>
              </a:rPr>
              <a:t>        Storage: Minimum 500 MB free disk space</a:t>
            </a:r>
            <a:endParaRPr lang="en-US" altLang="en-US" sz="2800" b="1" dirty="0">
              <a:solidFill>
                <a:srgbClr val="0F0F0F"/>
              </a:solidFill>
            </a:endParaRPr>
          </a:p>
          <a:p>
            <a:pPr marL="0" indent="0">
              <a:buNone/>
            </a:pPr>
            <a:r>
              <a:rPr lang="en-US" altLang="en-US" sz="2800" b="1" dirty="0">
                <a:solidFill>
                  <a:srgbClr val="0F0F0F"/>
                </a:solidFill>
              </a:rPr>
              <a:t>        Graphics: Integrated graphics (no dedicated GPU required for basic ML tasks)</a:t>
            </a:r>
            <a:endParaRPr lang="en-US" altLang="en-US" sz="2800" b="1" dirty="0">
              <a:solidFill>
                <a:srgbClr val="0F0F0F"/>
              </a:solidFill>
            </a:endParaRPr>
          </a:p>
          <a:p>
            <a:pPr marL="0" indent="0">
              <a:buNone/>
            </a:pPr>
            <a:endParaRPr lang="en-US" altLang="en-US" sz="2800" b="1" dirty="0">
              <a:solidFill>
                <a:srgbClr val="0F0F0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676275"/>
            <a:ext cx="11029315" cy="5584825"/>
          </a:xfrm>
        </p:spPr>
        <p:txBody>
          <a:bodyPr>
            <a:noAutofit/>
          </a:bodyPr>
          <a:p>
            <a:pPr marL="0" indent="0" algn="l">
              <a:buNone/>
            </a:pPr>
            <a:r>
              <a:rPr lang="en-US" altLang="en-US" sz="2400" b="1" dirty="0">
                <a:solidFill>
                  <a:srgbClr val="0F0F0F"/>
                </a:solidFill>
              </a:rPr>
              <a:t> </a:t>
            </a:r>
            <a:r>
              <a:rPr lang="en-US" altLang="en-US" sz="2400" b="1" dirty="0">
                <a:solidFill>
                  <a:srgbClr val="0F0F0F"/>
                </a:solidFill>
                <a:sym typeface="+mn-ea"/>
              </a:rPr>
              <a:t>Software Requirements:</a:t>
            </a:r>
            <a:endParaRPr lang="en-US" altLang="en-US" sz="2400" b="1" dirty="0">
              <a:solidFill>
                <a:srgbClr val="0F0F0F"/>
              </a:solidFill>
            </a:endParaRPr>
          </a:p>
          <a:p>
            <a:pPr marL="0" indent="0" algn="l">
              <a:buNone/>
            </a:pPr>
            <a:r>
              <a:rPr lang="en-US" altLang="en-US" sz="2400" b="1" dirty="0">
                <a:solidFill>
                  <a:srgbClr val="0F0F0F"/>
                </a:solidFill>
                <a:sym typeface="+mn-ea"/>
              </a:rPr>
              <a:t>   Operating System: Windows 10/11, Linux or macOS</a:t>
            </a:r>
            <a:endParaRPr lang="en-US" altLang="en-US" sz="2400" b="1" dirty="0">
              <a:solidFill>
                <a:srgbClr val="0F0F0F"/>
              </a:solidFill>
            </a:endParaRPr>
          </a:p>
          <a:p>
            <a:pPr marL="0" indent="0" algn="l">
              <a:buNone/>
            </a:pPr>
            <a:r>
              <a:rPr lang="en-US" altLang="en-US" sz="2400" b="1" dirty="0">
                <a:solidFill>
                  <a:srgbClr val="0F0F0F"/>
                </a:solidFill>
              </a:rPr>
              <a:t>   Programming Language: Python 3.8 or above</a:t>
            </a:r>
            <a:endParaRPr lang="en-US" altLang="en-US" sz="2400" b="1" dirty="0">
              <a:solidFill>
                <a:srgbClr val="0F0F0F"/>
              </a:solidFill>
            </a:endParaRPr>
          </a:p>
          <a:p>
            <a:pPr marL="0" indent="0" algn="l">
              <a:buNone/>
            </a:pPr>
            <a:r>
              <a:rPr lang="en-US" altLang="en-US" sz="2400" b="1" dirty="0">
                <a:solidFill>
                  <a:srgbClr val="0F0F0F"/>
                </a:solidFill>
              </a:rPr>
              <a:t>   IDE/Code Editor: Jupyter Notebook or Google Colab or VS Code</a:t>
            </a:r>
            <a:endParaRPr lang="en-US" altLang="en-US" sz="2400" b="1" dirty="0">
              <a:solidFill>
                <a:srgbClr val="0F0F0F"/>
              </a:solidFill>
            </a:endParaRPr>
          </a:p>
          <a:p>
            <a:pPr marL="0" indent="0" algn="l">
              <a:buNone/>
            </a:pPr>
            <a:endParaRPr lang="en-US" altLang="en-US" sz="2400" b="1" dirty="0">
              <a:solidFill>
                <a:srgbClr val="0F0F0F"/>
              </a:solidFill>
            </a:endParaRPr>
          </a:p>
          <a:p>
            <a:pPr algn="l"/>
            <a:r>
              <a:rPr lang="en-IN" sz="2400" b="1" u="sng" dirty="0">
                <a:solidFill>
                  <a:srgbClr val="0F0F0F"/>
                </a:solidFill>
                <a:sym typeface="+mn-ea"/>
              </a:rPr>
              <a:t>Library required to build the model</a:t>
            </a:r>
            <a:r>
              <a:rPr lang="en-US" altLang="en-IN" sz="2400" b="1" dirty="0">
                <a:solidFill>
                  <a:srgbClr val="0F0F0F"/>
                </a:solidFill>
                <a:sym typeface="+mn-ea"/>
              </a:rPr>
              <a:t>:</a:t>
            </a:r>
            <a:endParaRPr lang="en-US" altLang="en-IN" sz="2400" b="1" dirty="0">
              <a:solidFill>
                <a:srgbClr val="0F0F0F"/>
              </a:solidFill>
              <a:sym typeface="+mn-ea"/>
            </a:endParaRPr>
          </a:p>
          <a:p>
            <a:pPr marL="0" indent="0" algn="l">
              <a:buNone/>
            </a:pPr>
            <a:r>
              <a:rPr lang="en-US" altLang="en-US" sz="2400" b="1" dirty="0">
                <a:solidFill>
                  <a:srgbClr val="0F0F0F"/>
                </a:solidFill>
              </a:rPr>
              <a:t>   pandas:Data manipulation and analysis</a:t>
            </a:r>
            <a:endParaRPr lang="en-US" altLang="en-US" sz="2400" b="1" dirty="0">
              <a:solidFill>
                <a:srgbClr val="0F0F0F"/>
              </a:solidFill>
            </a:endParaRPr>
          </a:p>
          <a:p>
            <a:pPr marL="0" indent="0" algn="l">
              <a:buNone/>
            </a:pPr>
            <a:r>
              <a:rPr lang="en-US" altLang="en-US" sz="2400" b="1" dirty="0">
                <a:solidFill>
                  <a:srgbClr val="0F0F0F"/>
                </a:solidFill>
              </a:rPr>
              <a:t>   numpy:Numerical computations</a:t>
            </a:r>
            <a:endParaRPr lang="en-US" altLang="en-US" sz="2400" b="1" dirty="0">
              <a:solidFill>
                <a:srgbClr val="0F0F0F"/>
              </a:solidFill>
            </a:endParaRPr>
          </a:p>
          <a:p>
            <a:pPr marL="0" indent="0" algn="l">
              <a:buNone/>
            </a:pPr>
            <a:r>
              <a:rPr lang="en-US" altLang="en-US" sz="2400" b="1" dirty="0">
                <a:solidFill>
                  <a:srgbClr val="0F0F0F"/>
                </a:solidFill>
              </a:rPr>
              <a:t>   scikit-learn:Machine learning Algorithm and preprocessing   </a:t>
            </a:r>
            <a:endParaRPr lang="en-US" altLang="en-US" sz="2400" b="1" dirty="0">
              <a:solidFill>
                <a:srgbClr val="0F0F0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909955"/>
            <a:ext cx="11029315" cy="5065395"/>
          </a:xfrm>
        </p:spPr>
        <p:txBody>
          <a:bodyPr/>
          <a:p>
            <a:pPr marL="0" indent="0" algn="l">
              <a:buNone/>
            </a:pPr>
            <a:r>
              <a:rPr lang="en-US" altLang="en-US" sz="2400" b="1" dirty="0">
                <a:solidFill>
                  <a:srgbClr val="0F0F0F"/>
                </a:solidFill>
                <a:sym typeface="+mn-ea"/>
              </a:rPr>
              <a:t>   matplotlib:Data visualization</a:t>
            </a:r>
            <a:endParaRPr lang="en-US" altLang="en-US" sz="2400" b="1" dirty="0">
              <a:solidFill>
                <a:srgbClr val="0F0F0F"/>
              </a:solidFill>
            </a:endParaRPr>
          </a:p>
          <a:p>
            <a:pPr marL="0" indent="0" algn="l">
              <a:buNone/>
            </a:pPr>
            <a:r>
              <a:rPr lang="en-US" altLang="en-US" sz="2400" b="1" dirty="0">
                <a:solidFill>
                  <a:srgbClr val="0F0F0F"/>
                </a:solidFill>
                <a:sym typeface="+mn-ea"/>
              </a:rPr>
              <a:t>   seaborn:Statistical data visualization</a:t>
            </a:r>
            <a:endParaRPr lang="en-US" altLang="en-US" sz="2400" b="1" dirty="0">
              <a:solidFill>
                <a:srgbClr val="0F0F0F"/>
              </a:solidFill>
              <a:sym typeface="+mn-ea"/>
            </a:endParaRPr>
          </a:p>
          <a:p>
            <a:pPr marL="0" indent="0" algn="l">
              <a:buNone/>
            </a:pPr>
            <a:r>
              <a:rPr lang="en-US" sz="2400">
                <a:sym typeface="+mn-ea"/>
              </a:rPr>
              <a:t>   </a:t>
            </a:r>
            <a:r>
              <a:rPr lang="en-US" sz="2400" b="1">
                <a:sym typeface="+mn-ea"/>
              </a:rPr>
              <a:t>Pipiline:</a:t>
            </a:r>
            <a:r>
              <a:rPr sz="2400" b="1">
                <a:sym typeface="+mn-ea"/>
              </a:rPr>
              <a:t>Combines preprocessing and modeling steps</a:t>
            </a:r>
            <a:endParaRPr sz="2400" b="1"/>
          </a:p>
          <a:p>
            <a:pPr marL="0" indent="0" algn="l">
              <a:buNone/>
            </a:pPr>
            <a:r>
              <a:rPr lang="en-US" altLang="en-US" sz="2400" b="1" dirty="0">
                <a:solidFill>
                  <a:srgbClr val="0F0F0F"/>
                </a:solidFill>
              </a:rPr>
              <a:t>   Joblib:Model saving and loading</a:t>
            </a:r>
            <a:endParaRPr lang="en-US" altLang="en-US" sz="2400" b="1" dirty="0">
              <a:solidFill>
                <a:srgbClr val="0F0F0F"/>
              </a:solidFill>
            </a:endParaRPr>
          </a:p>
          <a:p>
            <a:pPr marL="0" indent="0" algn="l">
              <a:buNone/>
            </a:pPr>
            <a:r>
              <a:rPr lang="en-US" altLang="en-US" sz="2400" b="1" dirty="0">
                <a:solidFill>
                  <a:srgbClr val="0F0F0F"/>
                </a:solidFill>
                <a:sym typeface="+mn-ea"/>
              </a:rPr>
              <a:t>   streamlit (optional):</a:t>
            </a:r>
            <a:r>
              <a:rPr lang="en-US" altLang="en-US" sz="2400" b="1" dirty="0">
                <a:solidFill>
                  <a:srgbClr val="0F0F0F"/>
                </a:solidFill>
              </a:rPr>
              <a:t>Build and deploy interactive web apps</a:t>
            </a:r>
            <a:endParaRPr lang="en-US" altLang="en-US" sz="2400" b="1" dirty="0">
              <a:solidFill>
                <a:srgbClr val="0F0F0F"/>
              </a:solidFill>
            </a:endParaRPr>
          </a:p>
          <a:p>
            <a:pPr marL="0" indent="0" algn="l">
              <a:buNone/>
            </a:pPr>
            <a:endParaRPr lang="en-US" altLang="en-US" sz="2400" b="1" dirty="0">
              <a:solidFill>
                <a:srgbClr val="0F0F0F"/>
              </a:solidFill>
            </a:endParaRPr>
          </a:p>
          <a:p>
            <a:pPr marL="0" indent="0" algn="l">
              <a:buNone/>
            </a:pPr>
            <a:endParaRPr lang="en-US" altLang="en-US" sz="2400" b="1" dirty="0">
              <a:solidFill>
                <a:srgbClr val="0F0F0F"/>
              </a:solidFill>
            </a:endParaRPr>
          </a:p>
          <a:p>
            <a:pPr marL="0" indent="0" algn="l">
              <a:buNone/>
            </a:pPr>
            <a:endParaRPr lang="en-US" altLang="en-US" sz="2400" b="1" dirty="0">
              <a:solidFill>
                <a:srgbClr val="0F0F0F"/>
              </a:solidFill>
            </a:endParaRPr>
          </a:p>
          <a:p>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Algorithm &amp; Deployment</a:t>
            </a:r>
            <a:endParaRPr lang="en-US"/>
          </a:p>
        </p:txBody>
      </p:sp>
      <p:sp>
        <p:nvSpPr>
          <p:cNvPr id="2" name="Content Placeholder 1"/>
          <p:cNvSpPr>
            <a:spLocks noGrp="1"/>
          </p:cNvSpPr>
          <p:nvPr>
            <p:ph idx="1"/>
          </p:nvPr>
        </p:nvSpPr>
        <p:spPr>
          <a:xfrm>
            <a:off x="581025" y="1301750"/>
            <a:ext cx="11029315" cy="5012690"/>
          </a:xfrm>
        </p:spPr>
        <p:txBody>
          <a:bodyPr>
            <a:noAutofit/>
          </a:bodyPr>
          <a:lstStyle/>
          <a:p>
            <a:pPr marL="305435" indent="-305435"/>
            <a:r>
              <a:rPr lang="en-US" sz="2800" b="1" dirty="0">
                <a:sym typeface="+mn-ea"/>
              </a:rPr>
              <a:t>step by step procedure to complete project :</a:t>
            </a:r>
            <a:endParaRPr lang="en-US" sz="2800" b="1" dirty="0">
              <a:sym typeface="+mn-ea"/>
            </a:endParaRPr>
          </a:p>
          <a:p>
            <a:pPr marL="0" indent="0">
              <a:buNone/>
            </a:pPr>
            <a:r>
              <a:rPr lang="en-US" altLang="en-US" sz="2300" b="1" dirty="0"/>
              <a:t>Step 1: Import Libraries :Import essential libraries like pandas for data manipulation.</a:t>
            </a:r>
            <a:endParaRPr lang="en-US" altLang="en-US" sz="2300" b="1" dirty="0"/>
          </a:p>
          <a:p>
            <a:pPr marL="0" indent="0">
              <a:buNone/>
            </a:pPr>
            <a:r>
              <a:rPr lang="en-US" altLang="en-US" sz="2300" b="1" dirty="0"/>
              <a:t>Step 2: Load Dataset.</a:t>
            </a:r>
            <a:endParaRPr lang="en-US" altLang="en-US" sz="2300" b="1" dirty="0"/>
          </a:p>
          <a:p>
            <a:pPr marL="0" indent="0">
              <a:buNone/>
            </a:pPr>
            <a:r>
              <a:rPr lang="en-US" altLang="en-US" sz="2300" b="1" dirty="0"/>
              <a:t>Step 3: Initial Data Exploration:Checked the shape, head, and tail of the dataset to understand its structure and preview data.</a:t>
            </a:r>
            <a:endParaRPr lang="en-US" altLang="en-US" sz="2300" b="1" dirty="0"/>
          </a:p>
          <a:p>
            <a:pPr marL="0" indent="0">
              <a:buNone/>
            </a:pPr>
            <a:r>
              <a:rPr lang="en-US" altLang="en-US" sz="2300" b="1" dirty="0"/>
              <a:t>Step 4: Cleaned missing or undefined categories like:</a:t>
            </a:r>
            <a:endParaRPr lang="en-US" altLang="en-US" sz="2300" b="1" dirty="0"/>
          </a:p>
          <a:p>
            <a:pPr marL="0" indent="0">
              <a:buNone/>
            </a:pPr>
            <a:r>
              <a:rPr lang="en-US" altLang="en-US" sz="2300" b="1" dirty="0"/>
              <a:t>Replaced unknown occupation = '?' with 'Others'</a:t>
            </a:r>
            <a:endParaRPr lang="en-US" altLang="en-US" sz="2300" b="1" dirty="0"/>
          </a:p>
          <a:p>
            <a:pPr marL="0" indent="0">
              <a:buNone/>
            </a:pPr>
            <a:r>
              <a:rPr lang="en-US" altLang="en-US" sz="2300" b="1" dirty="0"/>
              <a:t>Replaced unknown workclass = '?' with 'Notlisted',</a:t>
            </a:r>
            <a:endParaRPr lang="en-US" altLang="en-US" sz="2300" b="1" dirty="0"/>
          </a:p>
          <a:p>
            <a:pPr marL="0" indent="0">
              <a:buNone/>
            </a:pPr>
            <a:r>
              <a:rPr lang="en-US" altLang="en-US" sz="2300" b="1" dirty="0"/>
              <a:t>Step 5: Analyzed value counts of categorical variables like occupation, gender, education, marital-status, workclass to understand data distribution.</a:t>
            </a:r>
            <a:endParaRPr lang="en-US" altLang="en-US" sz="23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909955"/>
            <a:ext cx="11029315" cy="5065395"/>
          </a:xfrm>
        </p:spPr>
        <p:txBody>
          <a:bodyPr>
            <a:normAutofit lnSpcReduction="10000"/>
          </a:bodyPr>
          <a:p>
            <a:pPr marL="0" indent="0">
              <a:buNone/>
            </a:pPr>
            <a:r>
              <a:rPr lang="en-US" altLang="en-US" sz="2400" b="1" dirty="0">
                <a:sym typeface="+mn-ea"/>
              </a:rPr>
              <a:t>Step 6: Data Cleaning:Handled inconsistencies by removing specific values.Cleaned the data to ensure proper feature representation.</a:t>
            </a:r>
            <a:endParaRPr lang="en-US" altLang="en-US" sz="2400" b="1" dirty="0">
              <a:sym typeface="+mn-ea"/>
            </a:endParaRPr>
          </a:p>
          <a:p>
            <a:pPr marL="0" indent="0">
              <a:buNone/>
            </a:pPr>
            <a:endParaRPr lang="en-US" altLang="en-US" sz="2400" b="1" dirty="0">
              <a:sym typeface="+mn-ea"/>
            </a:endParaRPr>
          </a:p>
          <a:p>
            <a:pPr marL="0" indent="0">
              <a:buNone/>
            </a:pPr>
            <a:r>
              <a:rPr lang="en-US" altLang="en-US" sz="2400" b="1" dirty="0">
                <a:sym typeface="+mn-ea"/>
              </a:rPr>
              <a:t>Step 7:</a:t>
            </a:r>
            <a:r>
              <a:rPr lang="en-US" altLang="en-US" sz="2400" b="1"/>
              <a:t>Outliers were visualized in key numerical features that can impact model performance. The features analyzed include: Age, Capital Gain, Educational Number, and Hours-per-Week.</a:t>
            </a:r>
            <a:endParaRPr lang="en-US" altLang="en-US" sz="2400" b="1"/>
          </a:p>
          <a:p>
            <a:pPr marL="0" indent="0">
              <a:buNone/>
            </a:pPr>
            <a:endParaRPr lang="en-US" altLang="en-US" sz="2400" b="1"/>
          </a:p>
          <a:p>
            <a:pPr marL="0" indent="0">
              <a:buNone/>
            </a:pPr>
            <a:r>
              <a:rPr lang="en-US" sz="2400" b="1"/>
              <a:t>Step 8:</a:t>
            </a:r>
            <a:r>
              <a:rPr lang="en-US" altLang="en-US" sz="2400" b="1">
                <a:sym typeface="+mn-ea"/>
              </a:rPr>
              <a:t>Label Encoding: </a:t>
            </a:r>
            <a:r>
              <a:rPr lang="en-US" sz="2400" b="1">
                <a:sym typeface="+mn-ea"/>
              </a:rPr>
              <a:t>it used to convert the categorical value to the numerical value. like:</a:t>
            </a:r>
            <a:r>
              <a:rPr lang="en-US" altLang="en-US" sz="2400" b="1">
                <a:sym typeface="+mn-ea"/>
              </a:rPr>
              <a:t>workclass, </a:t>
            </a:r>
            <a:r>
              <a:rPr lang="en-US" altLang="en-US" sz="2400" b="1">
                <a:sym typeface="+mn-ea"/>
              </a:rPr>
              <a:t>marital-status, occupation, relationship, race, gender, native-country</a:t>
            </a:r>
            <a:endParaRPr lang="en-US" altLang="en-US" sz="2400" b="1">
              <a:sym typeface="+mn-ea"/>
            </a:endParaRPr>
          </a:p>
          <a:p>
            <a:pPr marL="0" indent="0">
              <a:buNone/>
            </a:pPr>
            <a:endParaRPr lang="en-US" altLang="en-US" sz="24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814070"/>
            <a:ext cx="11029315" cy="5415280"/>
          </a:xfrm>
        </p:spPr>
        <p:txBody>
          <a:bodyPr>
            <a:noAutofit/>
          </a:bodyPr>
          <a:p>
            <a:r>
              <a:rPr lang="en-US" sz="2300" b="1">
                <a:sym typeface="+mn-ea"/>
              </a:rPr>
              <a:t>step 9:</a:t>
            </a:r>
            <a:r>
              <a:rPr lang="en-US" altLang="en-US" sz="2300" b="1">
                <a:sym typeface="+mn-ea"/>
              </a:rPr>
              <a:t>Model Training with Pipeline Integration</a:t>
            </a:r>
            <a:endParaRPr lang="en-US" altLang="en-US" sz="2300" b="1">
              <a:sym typeface="+mn-ea"/>
            </a:endParaRPr>
          </a:p>
          <a:p>
            <a:pPr marL="0" indent="0">
              <a:buNone/>
            </a:pPr>
            <a:r>
              <a:rPr lang="en-US" altLang="en-US" sz="2300" b="1">
                <a:sym typeface="+mn-ea"/>
              </a:rPr>
              <a:t>Splits data into 80% training and 20% testing.Compare the performance of multiple classification models on the dataset using a standardized pipeline.</a:t>
            </a:r>
            <a:endParaRPr lang="en-US" altLang="en-US" sz="2300" b="1">
              <a:sym typeface="+mn-ea"/>
            </a:endParaRPr>
          </a:p>
          <a:p>
            <a:pPr marL="0" indent="0">
              <a:buNone/>
            </a:pPr>
            <a:endParaRPr lang="en-US" altLang="en-US" sz="2300" b="1">
              <a:sym typeface="+mn-ea"/>
            </a:endParaRPr>
          </a:p>
          <a:p>
            <a:pPr marL="0" indent="0">
              <a:buNone/>
            </a:pPr>
            <a:r>
              <a:rPr lang="en-US" altLang="en-US" sz="2300" b="1"/>
              <a:t> Models Tested</a:t>
            </a:r>
            <a:r>
              <a:rPr lang="en-US" altLang="en-US" sz="2300" b="1">
                <a:sym typeface="+mn-ea"/>
              </a:rPr>
              <a:t> are Following:</a:t>
            </a:r>
            <a:endParaRPr lang="en-US" altLang="en-US" sz="2300" b="1"/>
          </a:p>
          <a:p>
            <a:pPr marL="0" indent="0">
              <a:buNone/>
            </a:pPr>
            <a:r>
              <a:rPr lang="en-US" sz="2300"/>
              <a:t>   </a:t>
            </a:r>
            <a:endParaRPr lang="en-US" altLang="en-US" sz="23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824865"/>
            <a:ext cx="11029315" cy="5436870"/>
          </a:xfrm>
        </p:spPr>
        <p:txBody>
          <a:bodyPr/>
          <a:p>
            <a:pPr marL="0" indent="0">
              <a:buNone/>
            </a:pPr>
            <a:r>
              <a:rPr lang="en-US" sz="2400" b="1">
                <a:sym typeface="+mn-ea"/>
              </a:rPr>
              <a:t>a)</a:t>
            </a:r>
            <a:r>
              <a:rPr lang="en-US" altLang="en-US" sz="2400" b="1">
                <a:sym typeface="+mn-ea"/>
              </a:rPr>
              <a:t>Logistic Regression :</a:t>
            </a:r>
            <a:endParaRPr lang="en-US" altLang="en-US" sz="2400" b="1"/>
          </a:p>
          <a:p>
            <a:pPr marL="0" indent="0">
              <a:buNone/>
            </a:pPr>
            <a:r>
              <a:rPr lang="en-US" altLang="en-US" sz="2400" b="1">
                <a:sym typeface="+mn-ea"/>
              </a:rPr>
              <a:t> Logistic Regression is a statistical method used for binary and multiclass classification tasks. Unlike linear regression, which predicts continuous values, logistic regression estimates the probability that a given input belongs to a particular category. It uses the sigmoid (logistic) function to map predicted values to a range between 0 and 1, which can then be classified into different classes using a threshold (usually 0.5). It assumes a linear relationship between the independent variables and the log-odds of the dependent variable. This model is simple, fast, and interpretable, making it a good baseline for classification problems, especially when the data is linearly separable</a:t>
            </a:r>
            <a:r>
              <a:rPr lang="en-US" altLang="en-US" sz="2400">
                <a:sym typeface="+mn-ea"/>
              </a:rPr>
              <a:t>.</a:t>
            </a:r>
            <a:endParaRPr lang="en-US" altLang="en-US" sz="2400"/>
          </a:p>
          <a:p>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624205"/>
            <a:ext cx="11029315" cy="5742940"/>
          </a:xfrm>
        </p:spPr>
        <p:txBody>
          <a:bodyPr>
            <a:normAutofit fontScale="90000"/>
          </a:bodyPr>
          <a:p>
            <a:pPr marL="0" indent="0">
              <a:buNone/>
            </a:pPr>
            <a:endParaRPr lang="en-US" altLang="en-US" sz="2400">
              <a:sym typeface="+mn-ea"/>
            </a:endParaRPr>
          </a:p>
          <a:p>
            <a:pPr marL="0" indent="0">
              <a:buNone/>
            </a:pPr>
            <a:r>
              <a:rPr lang="en-US" sz="2855" b="1">
                <a:sym typeface="+mn-ea"/>
              </a:rPr>
              <a:t>b)</a:t>
            </a:r>
            <a:r>
              <a:rPr lang="en-US" altLang="en-US" sz="2855" b="1">
                <a:sym typeface="+mn-ea"/>
              </a:rPr>
              <a:t>Random Forest Classifier</a:t>
            </a:r>
            <a:endParaRPr lang="en-US" altLang="en-US" sz="2855" b="1"/>
          </a:p>
          <a:p>
            <a:pPr marL="0" indent="0">
              <a:buNone/>
            </a:pPr>
            <a:r>
              <a:rPr lang="en-US" altLang="en-US" sz="2855" b="1">
                <a:sym typeface="+mn-ea"/>
              </a:rPr>
              <a:t>Random Forest is an ensemble learning algorithm that builds multiple decision trees during training and merges their results to improve the overall performance. Each tree is trained on a random subset of the data and features (a technique known as bagging), and the final prediction is determined by a majority vote in classification tasks. This approach reduces overfitting and improves generalization compared to a single decision tree. Random Forest is capable of capturing complex, non-linear relationships in data, handles missing values well, and is relatively robust to noise and outliers, making it a powerful model for many real-world classification problems.</a:t>
            </a:r>
            <a:endParaRPr lang="en-US" sz="2855"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a:bodyPr>
          <a:p>
            <a:pPr marL="0" indent="0">
              <a:buNone/>
            </a:pPr>
            <a:r>
              <a:rPr lang="en-US" sz="2400" b="1">
                <a:sym typeface="+mn-ea"/>
              </a:rPr>
              <a:t>C)</a:t>
            </a:r>
            <a:r>
              <a:rPr lang="en-US" altLang="en-US" sz="2400" b="1">
                <a:sym typeface="+mn-ea"/>
              </a:rPr>
              <a:t>K-Nearest Neighbors (KNN)</a:t>
            </a:r>
            <a:endParaRPr lang="en-US" altLang="en-US" sz="2400" b="1"/>
          </a:p>
          <a:p>
            <a:pPr marL="0" indent="0">
              <a:buNone/>
            </a:pPr>
            <a:r>
              <a:rPr lang="en-US" altLang="en-US" sz="2400" b="1">
                <a:sym typeface="+mn-ea"/>
              </a:rPr>
              <a:t>K-Nearest Neighbors (KNN) is a simple and intuitive algorithm that classifies data based on the majority class of its 'k' nearest neighbors in the feature space. It does not makeDuring prediction, it calculates the distance (commonly Euclidean) between the test point and all training points, then selects the top 'k' closest points to determine the output. While KNN is easy to understand and implement, it can be computationally expensive during prediction and is sensitive to the choice of 'k', feature scaling, and noisy data. It works best with small- to medium-sized datasets. any assumptions about the underlying data distribution, making it a non-parametric model.</a:t>
            </a:r>
            <a:endParaRPr lang="en-US" sz="2400"/>
          </a:p>
          <a:p>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591185"/>
            <a:ext cx="11029315" cy="5638165"/>
          </a:xfrm>
        </p:spPr>
        <p:txBody>
          <a:bodyPr/>
          <a:p>
            <a:pPr marL="0" indent="0">
              <a:buNone/>
            </a:pPr>
            <a:r>
              <a:rPr lang="en-US" altLang="en-US" sz="2400" b="1"/>
              <a:t>d)Support Vector Machine (SVM)</a:t>
            </a:r>
            <a:endParaRPr lang="en-US" altLang="en-US" sz="2400" b="1"/>
          </a:p>
          <a:p>
            <a:pPr marL="0" indent="0">
              <a:buNone/>
            </a:pPr>
            <a:r>
              <a:rPr lang="en-US" altLang="en-US" sz="2400" b="1"/>
              <a:t>Support Vector Machine (SVM) is a powerful supervised learning algorithm used for classification and regression tasks. It aims to find the optimal hyperplane that best separates data points of different classes with the maximum margin. In cases where data is not linearly separable, SVM uses kernel functions (like polynomial or RBF) to transform the input space into a higher-dimensional space where a hyperplane can be used to perform the separation. SVMs are effective in high-dimensional spaces and are robust against overfitting, especially in cases with clear class boundaries. However, they can be computationally intensive and sensitive to the choice of kernel and parameters.</a:t>
            </a:r>
            <a:endParaRPr lang="en-US" altLang="en-US" sz="24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718185"/>
            <a:ext cx="11029315" cy="5257165"/>
          </a:xfrm>
        </p:spPr>
        <p:txBody>
          <a:bodyPr/>
          <a:p>
            <a:pPr marL="0" indent="0">
              <a:buNone/>
            </a:pPr>
            <a:endParaRPr lang="en-US" sz="2400"/>
          </a:p>
          <a:p>
            <a:pPr marL="0" indent="0">
              <a:buNone/>
            </a:pPr>
            <a:r>
              <a:rPr lang="en-US" sz="2400" b="1"/>
              <a:t>e)</a:t>
            </a:r>
            <a:r>
              <a:rPr lang="en-US" altLang="en-US" sz="2400" b="1"/>
              <a:t>Gradient Boosting Classifier</a:t>
            </a:r>
            <a:endParaRPr lang="en-US" altLang="en-US" sz="2400" b="1"/>
          </a:p>
          <a:p>
            <a:pPr marL="0" indent="0">
              <a:buNone/>
            </a:pPr>
            <a:r>
              <a:rPr lang="en-US" altLang="en-US" sz="2400" b="1"/>
              <a:t>Gradient Boosting is an advanced ensemble learning technique that builds models sequentially, with each new model trying to correct the errors made by the previous ones. It combines weak learners (usually decision trees) in a stage-wise fashion, optimizing a loss function using gradient descent. Gradient Boosting can handle a variety of data types and has high predictive accuracy, making it a popular choice in machine learning competitions and real-world applications. However, it is prone to overfitting if not properly tuned and can be slower to train compared to other models. Techniques like early stopping, regularization, and learning rate adjustment are commonly used to improve its performance.</a:t>
            </a:r>
            <a:endParaRPr lang="en-US" altLang="en-US" sz="2400" b="1"/>
          </a:p>
          <a:p>
            <a:endParaRPr lang="en-US" altLang="en-US"/>
          </a:p>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718185"/>
            <a:ext cx="11029315" cy="5575300"/>
          </a:xfrm>
        </p:spPr>
        <p:txBody>
          <a:bodyPr>
            <a:normAutofit/>
          </a:bodyPr>
          <a:p>
            <a:r>
              <a:rPr lang="en-US" altLang="en-US" sz="2400" b="1"/>
              <a:t>Deploy a Streamlit web application that classifies employee salary classes (&gt;50K or ≤50K) using a pre-trained machine learning model (best_model.pkl).</a:t>
            </a:r>
            <a:endParaRPr lang="en-US" altLang="en-US" sz="2400" b="1"/>
          </a:p>
          <a:p>
            <a:r>
              <a:rPr lang="en-US" altLang="en-US" sz="2400" b="1"/>
              <a:t>first Complete the Code section of streamlit_run app.py and run it to analysed.</a:t>
            </a:r>
            <a:endParaRPr lang="en-US" altLang="en-US" sz="2400" b="1"/>
          </a:p>
          <a:p>
            <a:r>
              <a:rPr lang="en-US" sz="2400" b="1"/>
              <a:t>After the Analysis of different model We are Deploying the Project in streamlit as following:</a:t>
            </a:r>
            <a:endParaRPr lang="en-US" sz="2400" b="1"/>
          </a:p>
          <a:p>
            <a:r>
              <a:rPr lang="en-US" sz="2400" b="1"/>
              <a:t>a)First Open the Streamlit website and login with the help of github account;</a:t>
            </a:r>
            <a:endParaRPr lang="en-US" sz="2400" b="1"/>
          </a:p>
          <a:p>
            <a:r>
              <a:rPr lang="en-US" sz="2400" b="1"/>
              <a:t>b)go to Create App -&gt;&gt;Deploy a public app from Github-Click Deploy now-&gt;&gt;Select </a:t>
            </a:r>
            <a:r>
              <a:rPr lang="en-US" altLang="en-US" sz="2400" b="1"/>
              <a:t>Repository--&gt;click on Deploy</a:t>
            </a:r>
            <a:endParaRPr lang="en-US" altLang="en-US" sz="2400" b="1"/>
          </a:p>
          <a:p>
            <a:r>
              <a:rPr lang="en-US" altLang="en-US" sz="2400" b="1"/>
              <a:t>wait for some time and the project Interface will pop up.</a:t>
            </a:r>
            <a:endParaRPr lang="en-US" altLang="en-US" sz="2400" b="1"/>
          </a:p>
          <a:p>
            <a:pPr marL="0" indent="0">
              <a:buNone/>
            </a:pPr>
            <a:r>
              <a:rPr lang="en-US" altLang="en-US" sz="3200" b="1"/>
              <a:t> </a:t>
            </a:r>
            <a:endParaRPr lang="en-US" altLang="en-US" sz="32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856615"/>
            <a:ext cx="11029315" cy="5118735"/>
          </a:xfrm>
        </p:spPr>
        <p:txBody>
          <a:bodyPr/>
          <a:p>
            <a:pPr marL="0" indent="0">
              <a:buNone/>
            </a:pPr>
            <a:r>
              <a:rPr lang="en-US" altLang="en-US" sz="2800" b="1" u="sng">
                <a:sym typeface="+mn-ea"/>
              </a:rPr>
              <a:t>pyngrok Deployement:</a:t>
            </a:r>
            <a:endParaRPr lang="en-US" altLang="en-US" sz="2800" b="1" u="sng"/>
          </a:p>
          <a:p>
            <a:pPr marL="0" indent="0">
              <a:buNone/>
            </a:pPr>
            <a:r>
              <a:rPr lang="en-US" altLang="en-US" b="1">
                <a:sym typeface="+mn-ea"/>
              </a:rPr>
              <a:t> </a:t>
            </a:r>
            <a:r>
              <a:rPr lang="en-US" altLang="en-US" sz="2400" b="1">
                <a:sym typeface="+mn-ea"/>
              </a:rPr>
              <a:t>install streamlit pyngrok library, login to dashboard.ngrok.com and get your Your Authtoken. Run the Employee-Salary-Prediction/ngrok_file.ipynb. A url or local host link will pop up. Copy it and paste it in the Browser.</a:t>
            </a:r>
            <a:endParaRPr lang="en-US" altLang="en-US" sz="2400" b="1"/>
          </a:p>
          <a:p>
            <a:endParaRPr lang="en-US" sz="2400"/>
          </a:p>
          <a:p>
            <a:endParaRPr lang="en-US" sz="2400"/>
          </a:p>
          <a:p>
            <a:endParaRPr lang="en-US" sz="2400"/>
          </a:p>
          <a:p>
            <a:endParaRPr lang="en-US" sz="2400"/>
          </a:p>
          <a:p>
            <a:endParaRPr lang="en-US" sz="2400"/>
          </a:p>
          <a:p>
            <a:endParaRPr 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Result</a:t>
            </a:r>
            <a:endParaRPr lang="en-US"/>
          </a:p>
        </p:txBody>
      </p:sp>
      <p:sp>
        <p:nvSpPr>
          <p:cNvPr id="2" name="Content Placeholder 1"/>
          <p:cNvSpPr>
            <a:spLocks noGrp="1"/>
          </p:cNvSpPr>
          <p:nvPr>
            <p:ph idx="1"/>
          </p:nvPr>
        </p:nvSpPr>
        <p:spPr>
          <a:xfrm>
            <a:off x="581025" y="1231900"/>
            <a:ext cx="10785475" cy="5007610"/>
          </a:xfrm>
        </p:spPr>
        <p:txBody>
          <a:bodyPr>
            <a:normAutofit/>
          </a:bodyPr>
          <a:lstStyle/>
          <a:p>
            <a:pPr marL="305435" indent="-305435"/>
            <a:r>
              <a:rPr lang="en-US" altLang="en-US" sz="2400" b="1" dirty="0"/>
              <a:t>The different model results are following:</a:t>
            </a:r>
            <a:endParaRPr lang="en-US" altLang="en-US" sz="2400" b="1" dirty="0"/>
          </a:p>
          <a:p>
            <a:pPr marL="305435" indent="-305435"/>
            <a:r>
              <a:rPr lang="en-US" altLang="en-US" sz="2400" b="1" u="sng" dirty="0"/>
              <a:t>Comparison of Model Performance:</a:t>
            </a:r>
            <a:endParaRPr lang="en-US" altLang="en-US" sz="2400" b="1" dirty="0"/>
          </a:p>
          <a:p>
            <a:pPr marL="0" indent="0">
              <a:buNone/>
            </a:pPr>
            <a:r>
              <a:rPr lang="en-US" altLang="en-US" sz="2400" b="1" dirty="0"/>
              <a:t>    Model	                                        Accuracy Score</a:t>
            </a:r>
            <a:endParaRPr lang="en-US" altLang="en-US" sz="2400" b="1" dirty="0"/>
          </a:p>
          <a:p>
            <a:pPr marL="0" indent="0">
              <a:buNone/>
            </a:pPr>
            <a:r>
              <a:rPr lang="en-US" altLang="en-US" sz="2400" b="1" dirty="0"/>
              <a:t>    Logistic Regression	                0.82</a:t>
            </a:r>
            <a:endParaRPr lang="en-US" altLang="en-US" sz="2400" b="1" dirty="0"/>
          </a:p>
          <a:p>
            <a:pPr marL="0" indent="0">
              <a:buNone/>
            </a:pPr>
            <a:r>
              <a:rPr lang="en-US" altLang="en-US" sz="2400" b="1" dirty="0"/>
              <a:t>   Random Forest	                            0.86</a:t>
            </a:r>
            <a:endParaRPr lang="en-US" altLang="en-US" sz="2400" b="1" dirty="0"/>
          </a:p>
          <a:p>
            <a:pPr marL="0" indent="0">
              <a:buNone/>
            </a:pPr>
            <a:r>
              <a:rPr lang="en-US" altLang="en-US" sz="2400" b="1" dirty="0"/>
              <a:t>   K-Nearest Neighbors (KNN)	    0.82</a:t>
            </a:r>
            <a:endParaRPr lang="en-US" altLang="en-US" sz="2400" b="1" dirty="0"/>
          </a:p>
          <a:p>
            <a:pPr marL="0" indent="0">
              <a:buNone/>
            </a:pPr>
            <a:r>
              <a:rPr lang="en-US" altLang="en-US" sz="2400" b="1" dirty="0"/>
              <a:t>  Support Vector Machine (SVM)	    0.85</a:t>
            </a:r>
            <a:endParaRPr lang="en-US" altLang="en-US" sz="2400" b="1" dirty="0"/>
          </a:p>
          <a:p>
            <a:pPr marL="0" indent="0">
              <a:buNone/>
            </a:pPr>
            <a:r>
              <a:rPr lang="en-US" altLang="en-US" sz="2400" b="1" dirty="0"/>
              <a:t>  Gradient Boosting	                      0.87</a:t>
            </a:r>
            <a:endParaRPr lang="en-US" altLang="en-US" sz="2400" b="1" dirty="0"/>
          </a:p>
          <a:p>
            <a:pPr marL="0" indent="0">
              <a:buNone/>
            </a:pPr>
            <a:r>
              <a:rPr lang="en-US" altLang="en-US" sz="2400" b="1" dirty="0"/>
              <a:t>Best model: GradientBoosting with accuracy</a:t>
            </a:r>
            <a:endParaRPr lang="en-US" altLang="en-US" sz="2400" b="1" dirty="0"/>
          </a:p>
        </p:txBody>
      </p:sp>
      <p:cxnSp>
        <p:nvCxnSpPr>
          <p:cNvPr id="4" name="Straight Connector 3"/>
          <p:cNvCxnSpPr/>
          <p:nvPr/>
        </p:nvCxnSpPr>
        <p:spPr>
          <a:xfrm>
            <a:off x="858520" y="2813050"/>
            <a:ext cx="6377305"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 name="Straight Connector 5"/>
          <p:cNvCxnSpPr/>
          <p:nvPr/>
        </p:nvCxnSpPr>
        <p:spPr>
          <a:xfrm>
            <a:off x="4848225" y="2430780"/>
            <a:ext cx="10795" cy="32365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5-07-23 151157"/>
          <p:cNvPicPr>
            <a:picLocks noChangeAspect="1"/>
          </p:cNvPicPr>
          <p:nvPr>
            <p:ph idx="1"/>
          </p:nvPr>
        </p:nvPicPr>
        <p:blipFill>
          <a:blip r:embed="rId1"/>
          <a:stretch>
            <a:fillRect/>
          </a:stretch>
        </p:blipFill>
        <p:spPr>
          <a:xfrm>
            <a:off x="7288530" y="1238250"/>
            <a:ext cx="4214495" cy="3810000"/>
          </a:xfrm>
          <a:prstGeom prst="rect">
            <a:avLst/>
          </a:prstGeom>
        </p:spPr>
      </p:pic>
      <p:pic>
        <p:nvPicPr>
          <p:cNvPr id="5" name="Picture 4" descr="Screenshot 2025-07-23 151129"/>
          <p:cNvPicPr>
            <a:picLocks noChangeAspect="1"/>
          </p:cNvPicPr>
          <p:nvPr/>
        </p:nvPicPr>
        <p:blipFill>
          <a:blip r:embed="rId2"/>
          <a:stretch>
            <a:fillRect/>
          </a:stretch>
        </p:blipFill>
        <p:spPr>
          <a:xfrm>
            <a:off x="441325" y="1327150"/>
            <a:ext cx="3829050" cy="3721100"/>
          </a:xfrm>
          <a:prstGeom prst="rect">
            <a:avLst/>
          </a:prstGeom>
        </p:spPr>
      </p:pic>
      <p:sp>
        <p:nvSpPr>
          <p:cNvPr id="6" name="Text Box 5"/>
          <p:cNvSpPr txBox="1"/>
          <p:nvPr/>
        </p:nvSpPr>
        <p:spPr>
          <a:xfrm>
            <a:off x="1002665" y="5137150"/>
            <a:ext cx="2337435" cy="368300"/>
          </a:xfrm>
          <a:prstGeom prst="rect">
            <a:avLst/>
          </a:prstGeom>
          <a:noFill/>
        </p:spPr>
        <p:txBody>
          <a:bodyPr wrap="square" rtlCol="0">
            <a:spAutoFit/>
          </a:bodyPr>
          <a:p>
            <a:r>
              <a:rPr lang="en-US" b="1"/>
              <a:t>Before</a:t>
            </a:r>
            <a:r>
              <a:rPr lang="en-US"/>
              <a:t> </a:t>
            </a:r>
            <a:r>
              <a:rPr lang="en-US" b="1"/>
              <a:t>running Code</a:t>
            </a:r>
            <a:endParaRPr lang="en-US" b="1"/>
          </a:p>
        </p:txBody>
      </p:sp>
      <p:sp>
        <p:nvSpPr>
          <p:cNvPr id="7" name="Text Box 6"/>
          <p:cNvSpPr txBox="1"/>
          <p:nvPr/>
        </p:nvSpPr>
        <p:spPr>
          <a:xfrm>
            <a:off x="7288530" y="5137150"/>
            <a:ext cx="3555365" cy="368300"/>
          </a:xfrm>
          <a:prstGeom prst="rect">
            <a:avLst/>
          </a:prstGeom>
          <a:noFill/>
        </p:spPr>
        <p:txBody>
          <a:bodyPr wrap="square" rtlCol="0">
            <a:spAutoFit/>
          </a:bodyPr>
          <a:p>
            <a:pPr algn="ctr"/>
            <a:r>
              <a:rPr lang="en-US" b="1"/>
              <a:t>After runnning Code</a:t>
            </a:r>
            <a:endParaRPr lang="en-US" b="1"/>
          </a:p>
        </p:txBody>
      </p:sp>
      <p:sp>
        <p:nvSpPr>
          <p:cNvPr id="2" name="Text Box 1"/>
          <p:cNvSpPr txBox="1"/>
          <p:nvPr/>
        </p:nvSpPr>
        <p:spPr>
          <a:xfrm>
            <a:off x="4587875" y="1813560"/>
            <a:ext cx="2116455" cy="1706245"/>
          </a:xfrm>
          <a:prstGeom prst="rect">
            <a:avLst/>
          </a:prstGeom>
          <a:noFill/>
          <a:ln>
            <a:solidFill>
              <a:schemeClr val="tx1"/>
            </a:solidFill>
          </a:ln>
        </p:spPr>
        <p:txBody>
          <a:bodyPr wrap="square" rtlCol="0">
            <a:noAutofit/>
          </a:bodyPr>
          <a:p>
            <a:r>
              <a:rPr lang="en-US" altLang="en-US"/>
              <a:t>data=data[(data['educational-num']&lt;=16)&amp;(data['educational-num']&gt;=6)]</a:t>
            </a:r>
            <a:endParaRPr lang="en-US" altLang="en-US"/>
          </a:p>
        </p:txBody>
      </p:sp>
      <p:sp>
        <p:nvSpPr>
          <p:cNvPr id="3" name="Text Box 2"/>
          <p:cNvSpPr txBox="1"/>
          <p:nvPr/>
        </p:nvSpPr>
        <p:spPr>
          <a:xfrm>
            <a:off x="4682490" y="1445260"/>
            <a:ext cx="1581150" cy="368300"/>
          </a:xfrm>
          <a:prstGeom prst="rect">
            <a:avLst/>
          </a:prstGeom>
          <a:noFill/>
        </p:spPr>
        <p:txBody>
          <a:bodyPr wrap="square" rtlCol="0">
            <a:spAutoFit/>
          </a:bodyPr>
          <a:p>
            <a:pPr algn="ctr"/>
            <a:r>
              <a:rPr lang="en-US" b="1"/>
              <a:t>Code</a:t>
            </a:r>
            <a:endParaRPr lang="en-US" b="1"/>
          </a:p>
        </p:txBody>
      </p:sp>
      <p:sp>
        <p:nvSpPr>
          <p:cNvPr id="8" name="Text Box 7"/>
          <p:cNvSpPr txBox="1"/>
          <p:nvPr/>
        </p:nvSpPr>
        <p:spPr>
          <a:xfrm>
            <a:off x="774065" y="605790"/>
            <a:ext cx="8329295" cy="521970"/>
          </a:xfrm>
          <a:prstGeom prst="rect">
            <a:avLst/>
          </a:prstGeom>
          <a:noFill/>
        </p:spPr>
        <p:txBody>
          <a:bodyPr wrap="square" rtlCol="0">
            <a:spAutoFit/>
          </a:bodyPr>
          <a:p>
            <a:pPr algn="l"/>
            <a:r>
              <a:rPr lang="en-US" sz="2800" b="1"/>
              <a:t>The Outlier of the Educational Num :</a:t>
            </a:r>
            <a:endParaRPr lang="en-US" sz="2800" b="1"/>
          </a:p>
        </p:txBody>
      </p:sp>
      <p:cxnSp>
        <p:nvCxnSpPr>
          <p:cNvPr id="9" name="Straight Arrow Connector 8"/>
          <p:cNvCxnSpPr/>
          <p:nvPr/>
        </p:nvCxnSpPr>
        <p:spPr>
          <a:xfrm>
            <a:off x="4266565" y="2726055"/>
            <a:ext cx="3302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Straight Arrow Connector 9"/>
          <p:cNvCxnSpPr/>
          <p:nvPr/>
        </p:nvCxnSpPr>
        <p:spPr>
          <a:xfrm>
            <a:off x="6775450" y="2667000"/>
            <a:ext cx="3302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5-07-23 151050"/>
          <p:cNvPicPr>
            <a:picLocks noChangeAspect="1"/>
          </p:cNvPicPr>
          <p:nvPr>
            <p:ph idx="1"/>
          </p:nvPr>
        </p:nvPicPr>
        <p:blipFill>
          <a:blip r:embed="rId1"/>
          <a:stretch>
            <a:fillRect/>
          </a:stretch>
        </p:blipFill>
        <p:spPr>
          <a:xfrm>
            <a:off x="326390" y="1588135"/>
            <a:ext cx="3818890" cy="3484880"/>
          </a:xfrm>
          <a:prstGeom prst="rect">
            <a:avLst/>
          </a:prstGeom>
        </p:spPr>
      </p:pic>
      <p:pic>
        <p:nvPicPr>
          <p:cNvPr id="5" name="Picture 4" descr="Screenshot 2025-07-23 151103"/>
          <p:cNvPicPr>
            <a:picLocks noChangeAspect="1"/>
          </p:cNvPicPr>
          <p:nvPr/>
        </p:nvPicPr>
        <p:blipFill>
          <a:blip r:embed="rId2"/>
          <a:stretch>
            <a:fillRect/>
          </a:stretch>
        </p:blipFill>
        <p:spPr>
          <a:xfrm>
            <a:off x="7639685" y="1588135"/>
            <a:ext cx="3989705" cy="3485515"/>
          </a:xfrm>
          <a:prstGeom prst="rect">
            <a:avLst/>
          </a:prstGeom>
        </p:spPr>
      </p:pic>
      <p:sp>
        <p:nvSpPr>
          <p:cNvPr id="2" name="Text Box 1"/>
          <p:cNvSpPr txBox="1"/>
          <p:nvPr/>
        </p:nvSpPr>
        <p:spPr>
          <a:xfrm>
            <a:off x="840740" y="779145"/>
            <a:ext cx="6096000" cy="521970"/>
          </a:xfrm>
          <a:prstGeom prst="rect">
            <a:avLst/>
          </a:prstGeom>
          <a:noFill/>
        </p:spPr>
        <p:txBody>
          <a:bodyPr wrap="square" rtlCol="0" anchor="t">
            <a:spAutoFit/>
          </a:bodyPr>
          <a:p>
            <a:pPr algn="l"/>
            <a:r>
              <a:rPr lang="en-US" sz="2800" b="1">
                <a:sym typeface="+mn-ea"/>
              </a:rPr>
              <a:t>The Outlier of the age :</a:t>
            </a:r>
            <a:endParaRPr lang="en-US" sz="2800" b="1">
              <a:sym typeface="+mn-ea"/>
            </a:endParaRPr>
          </a:p>
        </p:txBody>
      </p:sp>
      <p:sp>
        <p:nvSpPr>
          <p:cNvPr id="3" name="Text Box 2"/>
          <p:cNvSpPr txBox="1"/>
          <p:nvPr/>
        </p:nvSpPr>
        <p:spPr>
          <a:xfrm>
            <a:off x="5344160" y="1748790"/>
            <a:ext cx="1096645" cy="368300"/>
          </a:xfrm>
          <a:prstGeom prst="rect">
            <a:avLst/>
          </a:prstGeom>
          <a:noFill/>
        </p:spPr>
        <p:txBody>
          <a:bodyPr wrap="square" rtlCol="0" anchor="t">
            <a:spAutoFit/>
          </a:bodyPr>
          <a:p>
            <a:r>
              <a:rPr lang="en-US" b="1">
                <a:sym typeface="+mn-ea"/>
              </a:rPr>
              <a:t>Code</a:t>
            </a:r>
            <a:endParaRPr lang="en-US" b="1">
              <a:sym typeface="+mn-ea"/>
            </a:endParaRPr>
          </a:p>
        </p:txBody>
      </p:sp>
      <p:sp>
        <p:nvSpPr>
          <p:cNvPr id="6" name="Text Box 5"/>
          <p:cNvSpPr txBox="1"/>
          <p:nvPr/>
        </p:nvSpPr>
        <p:spPr>
          <a:xfrm>
            <a:off x="1100455" y="5073015"/>
            <a:ext cx="2489835" cy="368300"/>
          </a:xfrm>
          <a:prstGeom prst="rect">
            <a:avLst/>
          </a:prstGeom>
          <a:noFill/>
        </p:spPr>
        <p:txBody>
          <a:bodyPr wrap="square" rtlCol="0" anchor="t">
            <a:spAutoFit/>
          </a:bodyPr>
          <a:p>
            <a:r>
              <a:rPr lang="en-US" b="1">
                <a:sym typeface="+mn-ea"/>
              </a:rPr>
              <a:t>Before</a:t>
            </a:r>
            <a:r>
              <a:rPr lang="en-US">
                <a:sym typeface="+mn-ea"/>
              </a:rPr>
              <a:t> </a:t>
            </a:r>
            <a:r>
              <a:rPr lang="en-US" b="1">
                <a:sym typeface="+mn-ea"/>
              </a:rPr>
              <a:t>running Code</a:t>
            </a:r>
            <a:endParaRPr lang="en-US" b="1">
              <a:sym typeface="+mn-ea"/>
            </a:endParaRPr>
          </a:p>
        </p:txBody>
      </p:sp>
      <p:sp>
        <p:nvSpPr>
          <p:cNvPr id="7" name="Text Box 6"/>
          <p:cNvSpPr txBox="1"/>
          <p:nvPr/>
        </p:nvSpPr>
        <p:spPr>
          <a:xfrm>
            <a:off x="8094345" y="5073650"/>
            <a:ext cx="3302000" cy="368300"/>
          </a:xfrm>
          <a:prstGeom prst="rect">
            <a:avLst/>
          </a:prstGeom>
          <a:noFill/>
        </p:spPr>
        <p:txBody>
          <a:bodyPr wrap="square" rtlCol="0" anchor="t">
            <a:spAutoFit/>
          </a:bodyPr>
          <a:p>
            <a:pPr algn="ctr"/>
            <a:r>
              <a:rPr lang="en-US" b="1">
                <a:sym typeface="+mn-ea"/>
              </a:rPr>
              <a:t>After runnning Code</a:t>
            </a:r>
            <a:endParaRPr lang="en-US" b="1">
              <a:sym typeface="+mn-ea"/>
            </a:endParaRPr>
          </a:p>
        </p:txBody>
      </p:sp>
      <p:sp>
        <p:nvSpPr>
          <p:cNvPr id="8" name="Text Box 7"/>
          <p:cNvSpPr txBox="1"/>
          <p:nvPr/>
        </p:nvSpPr>
        <p:spPr>
          <a:xfrm>
            <a:off x="4722495" y="2184400"/>
            <a:ext cx="2340610" cy="1303020"/>
          </a:xfrm>
          <a:prstGeom prst="rect">
            <a:avLst/>
          </a:prstGeom>
          <a:noFill/>
          <a:ln>
            <a:solidFill>
              <a:schemeClr val="tx1"/>
            </a:solidFill>
          </a:ln>
        </p:spPr>
        <p:txBody>
          <a:bodyPr wrap="square" rtlCol="0">
            <a:noAutofit/>
          </a:bodyPr>
          <a:p>
            <a:r>
              <a:rPr lang="en-US" altLang="en-US"/>
              <a:t>data=data[(data['age']&lt;=75)&amp;(data['age']&gt;=17)]</a:t>
            </a:r>
            <a:endParaRPr lang="en-US" altLang="en-US"/>
          </a:p>
        </p:txBody>
      </p:sp>
      <p:cxnSp>
        <p:nvCxnSpPr>
          <p:cNvPr id="9" name="Straight Arrow Connector 8"/>
          <p:cNvCxnSpPr/>
          <p:nvPr/>
        </p:nvCxnSpPr>
        <p:spPr>
          <a:xfrm>
            <a:off x="4266565" y="2726055"/>
            <a:ext cx="3302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Straight Arrow Connector 9"/>
          <p:cNvCxnSpPr/>
          <p:nvPr/>
        </p:nvCxnSpPr>
        <p:spPr>
          <a:xfrm>
            <a:off x="7186295" y="2726055"/>
            <a:ext cx="3302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5-07-23 151017"/>
          <p:cNvPicPr>
            <a:picLocks noChangeAspect="1"/>
          </p:cNvPicPr>
          <p:nvPr>
            <p:ph idx="1"/>
          </p:nvPr>
        </p:nvPicPr>
        <p:blipFill>
          <a:blip r:embed="rId1"/>
          <a:stretch>
            <a:fillRect/>
          </a:stretch>
        </p:blipFill>
        <p:spPr>
          <a:xfrm>
            <a:off x="1492250" y="1772285"/>
            <a:ext cx="7892415" cy="4509770"/>
          </a:xfrm>
          <a:prstGeom prst="rect">
            <a:avLst/>
          </a:prstGeom>
        </p:spPr>
      </p:pic>
      <p:sp>
        <p:nvSpPr>
          <p:cNvPr id="2" name="Text Box 1"/>
          <p:cNvSpPr txBox="1"/>
          <p:nvPr/>
        </p:nvSpPr>
        <p:spPr>
          <a:xfrm>
            <a:off x="1388110" y="770255"/>
            <a:ext cx="7864475" cy="829945"/>
          </a:xfrm>
          <a:prstGeom prst="rect">
            <a:avLst/>
          </a:prstGeom>
          <a:noFill/>
        </p:spPr>
        <p:txBody>
          <a:bodyPr wrap="square" rtlCol="0">
            <a:spAutoFit/>
          </a:bodyPr>
          <a:p>
            <a:r>
              <a:rPr lang="en-US" sz="2400" b="1"/>
              <a:t>The </a:t>
            </a:r>
            <a:r>
              <a:rPr lang="en-US" altLang="en-US" sz="2400" b="1">
                <a:sym typeface="+mn-ea"/>
              </a:rPr>
              <a:t>Comparison of </a:t>
            </a:r>
            <a:r>
              <a:rPr lang="en-US" altLang="en-US" sz="2400" b="1"/>
              <a:t>five different machine learning model Performance:</a:t>
            </a:r>
            <a:endParaRPr lang="en-US" altLang="en-US" sz="2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User Interface of the Deployed Project:</a:t>
            </a:r>
            <a:endParaRPr lang="en-US" altLang="en-US"/>
          </a:p>
        </p:txBody>
      </p:sp>
      <p:pic>
        <p:nvPicPr>
          <p:cNvPr id="4" name="Content Placeholder 3" descr="Deploye_Employee salary Predictor"/>
          <p:cNvPicPr>
            <a:picLocks noChangeAspect="1"/>
          </p:cNvPicPr>
          <p:nvPr>
            <p:ph idx="1"/>
          </p:nvPr>
        </p:nvPicPr>
        <p:blipFill>
          <a:blip r:embed="rId1"/>
          <a:stretch>
            <a:fillRect/>
          </a:stretch>
        </p:blipFill>
        <p:spPr>
          <a:xfrm>
            <a:off x="775970" y="1356360"/>
            <a:ext cx="9876790" cy="48304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altLang="en-US" sz="3200" b="1" dirty="0">
                <a:sym typeface="+mn-ea"/>
              </a:rPr>
              <a:t>Github Link: https://github.com/Ayush002619/Employee-Salary-Prediction</a:t>
            </a:r>
            <a:endParaRPr lang="en-US" altLang="en-US" sz="3200" b="1" dirty="0">
              <a:sym typeface="+mn-ea"/>
            </a:endParaRPr>
          </a:p>
          <a:p>
            <a:r>
              <a:rPr lang="en-US" altLang="en-US" sz="3200" b="1" dirty="0">
                <a:sym typeface="+mn-ea"/>
              </a:rPr>
              <a:t>Deployed link:</a:t>
            </a:r>
            <a:r>
              <a:rPr lang="en-US" altLang="en-US" sz="3200" b="1" dirty="0"/>
              <a:t>https://e0fe1a39d7db.ngrok-free.app/</a:t>
            </a:r>
            <a:endParaRPr lang="en-US" altLang="en-US" sz="3200" b="1" dirty="0"/>
          </a:p>
          <a:p>
            <a:endParaRPr lang="en-US" sz="3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2" name="Content Placeholder 1"/>
          <p:cNvSpPr>
            <a:spLocks noGrp="1"/>
          </p:cNvSpPr>
          <p:nvPr>
            <p:ph idx="1"/>
          </p:nvPr>
        </p:nvSpPr>
        <p:spPr>
          <a:xfrm>
            <a:off x="581025" y="1301750"/>
            <a:ext cx="10674350" cy="4673600"/>
          </a:xfrm>
        </p:spPr>
        <p:txBody>
          <a:bodyPr>
            <a:normAutofit fontScale="25000"/>
          </a:bodyPr>
          <a:lstStyle/>
          <a:p>
            <a:pPr marL="0" indent="0">
              <a:buNone/>
            </a:pPr>
            <a:endParaRPr lang="en-US" altLang="en-US" sz="4000" b="1" dirty="0">
              <a:solidFill>
                <a:srgbClr val="0F0F0F"/>
              </a:solidFill>
              <a:ea typeface="+mn-lt"/>
              <a:cs typeface="+mn-lt"/>
            </a:endParaRPr>
          </a:p>
          <a:p>
            <a:pPr marL="0" indent="0">
              <a:buNone/>
            </a:pPr>
            <a:endParaRPr lang="en-US" altLang="en-US" sz="4000" b="1" dirty="0">
              <a:solidFill>
                <a:srgbClr val="0F0F0F"/>
              </a:solidFill>
              <a:ea typeface="+mn-lt"/>
              <a:cs typeface="+mn-lt"/>
            </a:endParaRPr>
          </a:p>
          <a:p>
            <a:pPr marL="305435" indent="-305435"/>
            <a:endParaRPr lang="en-US" altLang="en-US" sz="2800" b="1" dirty="0">
              <a:solidFill>
                <a:srgbClr val="0F0F0F"/>
              </a:solidFill>
              <a:ea typeface="+mn-lt"/>
              <a:cs typeface="+mn-lt"/>
            </a:endParaRPr>
          </a:p>
          <a:p>
            <a:pPr marL="305435" indent="-305435"/>
            <a:r>
              <a:rPr lang="en-US" altLang="en-US" sz="9600" b="1" dirty="0">
                <a:solidFill>
                  <a:srgbClr val="0F0F0F"/>
                </a:solidFill>
                <a:ea typeface="+mn-lt"/>
                <a:cs typeface="+mn-lt"/>
                <a:sym typeface="+mn-ea"/>
              </a:rPr>
              <a:t>This project built and deployed a machine learning model to predict employee salaries based on key features. After comparing multiple models, </a:t>
            </a:r>
            <a:r>
              <a:rPr lang="en-US" altLang="en-US" sz="9600" b="1" dirty="0">
                <a:sym typeface="+mn-ea"/>
              </a:rPr>
              <a:t>Gradient Boosting</a:t>
            </a:r>
            <a:r>
              <a:rPr lang="en-US" altLang="en-US" sz="9600" b="1" dirty="0">
                <a:solidFill>
                  <a:srgbClr val="0F0F0F"/>
                </a:solidFill>
                <a:ea typeface="+mn-lt"/>
                <a:cs typeface="+mn-lt"/>
                <a:sym typeface="+mn-ea"/>
              </a:rPr>
              <a:t> gave the best results. The model is deployed with a simple web interface for real-time predictions </a:t>
            </a:r>
            <a:r>
              <a:rPr lang="en-US" altLang="en-US" sz="9600" b="1">
                <a:sym typeface="+mn-ea"/>
              </a:rPr>
              <a:t>The Challenges Encountered are Handling missing and inconsistent data during preprocessing, Managing imbalanced data which affected model accuracy, Difficulty in selecting the best-performing model, Deployment issues due to library compatibility.The Potential ImprovementsImprove are the user interface for better interaction and usability.</a:t>
            </a:r>
            <a:endParaRPr lang="en-US" sz="9600" b="1"/>
          </a:p>
          <a:p>
            <a:pPr marL="305435" indent="-305435"/>
            <a:endParaRPr lang="en-US" altLang="en-US" sz="2800" b="1" dirty="0">
              <a:solidFill>
                <a:srgbClr val="0F0F0F"/>
              </a:solidFill>
              <a:ea typeface="+mn-lt"/>
              <a:cs typeface="+mn-lt"/>
            </a:endParaRPr>
          </a:p>
          <a:p>
            <a:pPr marL="305435" indent="-305435"/>
            <a:endParaRPr lang="en-US" altLang="en-US" sz="2800" b="1" dirty="0">
              <a:solidFill>
                <a:srgbClr val="0F0F0F"/>
              </a:solidFill>
              <a:ea typeface="+mn-lt"/>
              <a:cs typeface="+mn-lt"/>
            </a:endParaRPr>
          </a:p>
          <a:p>
            <a:pPr marL="305435" indent="-305435"/>
            <a:endParaRPr lang="en-US" altLang="en-US" sz="2800" b="1" dirty="0">
              <a:solidFill>
                <a:srgbClr val="0F0F0F"/>
              </a:solidFill>
              <a:ea typeface="+mn-lt"/>
              <a:cs typeface="+mn-lt"/>
            </a:endParaRPr>
          </a:p>
          <a:p>
            <a:pPr marL="0" indent="0">
              <a:buNone/>
            </a:pPr>
            <a:endParaRPr lang="en-US" altLang="en-US" sz="2800" b="1" dirty="0">
              <a:solidFill>
                <a:srgbClr val="0F0F0F"/>
              </a:solidFill>
              <a:ea typeface="+mn-lt"/>
              <a:cs typeface="+mn-lt"/>
            </a:endParaRPr>
          </a:p>
          <a:p>
            <a:pPr marL="0" indent="0">
              <a:buNone/>
            </a:pPr>
            <a:r>
              <a:rPr lang="en-US" altLang="en-US" sz="2800" b="1" dirty="0">
                <a:solidFill>
                  <a:srgbClr val="0F0F0F"/>
                </a:solidFill>
                <a:ea typeface="+mn-lt"/>
                <a:cs typeface="+mn-lt"/>
              </a:rPr>
              <a:t>.</a:t>
            </a:r>
            <a:endParaRPr lang="en-IN" sz="2800" dirty="0">
              <a:solidFill>
                <a:srgbClr val="0F0F0F"/>
              </a:solidFill>
              <a:ea typeface="+mn-lt"/>
              <a:cs typeface="+mn-lt"/>
            </a:endParaRPr>
          </a:p>
          <a:p>
            <a:pPr marL="0" indent="0">
              <a:buNone/>
            </a:pPr>
            <a:endParaRPr lang="en-IN"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endParaRPr lang="en-US" altLang="en-US" sz="2800" b="1" dirty="0">
              <a:ea typeface="+mn-lt"/>
              <a:cs typeface="+mn-lt"/>
            </a:endParaRPr>
          </a:p>
          <a:p>
            <a:pPr marL="0" indent="0">
              <a:buNone/>
            </a:pPr>
            <a:endParaRPr lang="en-US" altLang="en-US" sz="2800" b="1" dirty="0">
              <a:ea typeface="+mn-lt"/>
              <a:cs typeface="+mn-lt"/>
            </a:endParaRPr>
          </a:p>
          <a:p>
            <a:pPr marL="305435" indent="-305435"/>
            <a:r>
              <a:rPr lang="en-US" altLang="en-US" sz="2800" b="1" dirty="0">
                <a:ea typeface="+mn-lt"/>
                <a:cs typeface="+mn-lt"/>
                <a:sym typeface="+mn-ea"/>
              </a:rPr>
              <a:t>Improve model accuracy using advanced algorithms like deep learning.</a:t>
            </a:r>
            <a:endParaRPr lang="en-US" altLang="en-US" sz="2800" b="1" dirty="0">
              <a:ea typeface="+mn-lt"/>
              <a:cs typeface="+mn-lt"/>
              <a:sym typeface="+mn-ea"/>
            </a:endParaRPr>
          </a:p>
          <a:p>
            <a:pPr marL="305435" indent="-305435"/>
            <a:r>
              <a:rPr lang="en-US" altLang="en-US" sz="2800" b="1" dirty="0"/>
              <a:t>Create an interactive dashboard for HR analytics to visualize trends, salary distributions, and prediction insights</a:t>
            </a:r>
            <a:endParaRPr lang="en-US" altLang="en-US" sz="2800" b="1" dirty="0"/>
          </a:p>
          <a:p>
            <a:pPr marL="305435" indent="-305435"/>
            <a:r>
              <a:rPr lang="en-US" altLang="en-US" sz="2800" b="1" dirty="0"/>
              <a:t>Integrate real-time data for dynamic prediction and better decision-making support.</a:t>
            </a:r>
            <a:endParaRPr lang="en-US" altLang="en-US" sz="2800" b="1" dirty="0"/>
          </a:p>
          <a:p>
            <a:pPr marL="0" indent="0">
              <a:buNone/>
            </a:pPr>
            <a:endParaRPr lang="en-US" sz="2800" b="1" dirty="0"/>
          </a:p>
        </p:txBody>
      </p:sp>
      <p:sp>
        <p:nvSpPr>
          <p:cNvPr id="5" name="Title 4"/>
          <p:cNvSpPr txBox="1"/>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panose="020B0604020202020204"/>
                <a:cs typeface="Arial" panose="020B0604020202020204"/>
              </a:rPr>
              <a:t>Future scope(Optional)</a:t>
            </a:r>
            <a:endParaRPr lang="en-US" sz="4400" b="1" dirty="0">
              <a:solidFill>
                <a:schemeClr val="accent1"/>
              </a:solidFill>
              <a:latin typeface="Arial" panose="020B0604020202020204"/>
              <a:cs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2" name="Content Placeholder 1"/>
          <p:cNvSpPr>
            <a:spLocks noGrp="1"/>
          </p:cNvSpPr>
          <p:nvPr>
            <p:ph idx="1"/>
          </p:nvPr>
        </p:nvSpPr>
        <p:spPr/>
        <p:txBody>
          <a:bodyPr>
            <a:normAutofit/>
          </a:bodyPr>
          <a:lstStyle/>
          <a:p>
            <a:pPr marL="305435" indent="-305435"/>
            <a:r>
              <a:rPr lang="en-US" altLang="en-US" sz="2400" dirty="0"/>
              <a:t>https://share.streamlit.io/</a:t>
            </a:r>
            <a:endParaRPr lang="en-US" altLang="en-US" sz="2400" dirty="0"/>
          </a:p>
          <a:p>
            <a:pPr marL="305435" indent="-305435"/>
            <a:r>
              <a:rPr lang="en-US" altLang="en-US" sz="2400" dirty="0"/>
              <a:t>https://dashboard.ngrok.com/</a:t>
            </a:r>
            <a:endParaRPr lang="en-US" altLang="en-US" sz="2400" dirty="0"/>
          </a:p>
          <a:p>
            <a:pPr marL="305435" indent="-305435"/>
            <a:r>
              <a:rPr lang="en-US" altLang="en-US" sz="2400" dirty="0"/>
              <a:t>https://www.kaggle.com/</a:t>
            </a:r>
            <a:endParaRPr lang="en-US" altLang="en-US" sz="2400" dirty="0"/>
          </a:p>
          <a:p>
            <a:pPr marL="305435" indent="-305435"/>
            <a:r>
              <a:rPr lang="en-US" altLang="en-US" sz="2400" dirty="0"/>
              <a:t>https://scikit-learn.org/</a:t>
            </a:r>
            <a:endParaRPr lang="en-US" altLang="en-US" sz="2400" dirty="0"/>
          </a:p>
          <a:p>
            <a:pPr marL="305435" indent="-305435"/>
            <a:r>
              <a:rPr lang="en-US" altLang="en-US" sz="2400" dirty="0"/>
              <a:t>https://pandas.pydata.org/docs/</a:t>
            </a:r>
            <a:endParaRPr lang="en-US" altLang="en-US" sz="2400" dirty="0"/>
          </a:p>
          <a:p>
            <a:pPr marL="305435" indent="-305435"/>
            <a:r>
              <a:rPr lang="en-US" altLang="en-US" sz="2400" dirty="0"/>
              <a:t>https://numpy.org/doc/</a:t>
            </a:r>
            <a:endParaRPr lang="en-US" altLang="en-US" sz="2400" dirty="0"/>
          </a:p>
          <a:p>
            <a:pPr marL="305435" indent="-305435"/>
            <a:r>
              <a:rPr lang="en-US" altLang="en-US" sz="2400" dirty="0"/>
              <a:t>https://matplotlib.org/</a:t>
            </a:r>
            <a:endParaRPr lang="en-US"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endParaRPr lang="en-US" b="1">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6E816721-11E4-4989-8472-AB5A7EC20404}">
  <ds:schemaRefs/>
</ds:datastoreItem>
</file>

<file path=customXml/itemProps3.xml><?xml version="1.0" encoding="utf-8"?>
<ds:datastoreItem xmlns:ds="http://schemas.openxmlformats.org/officeDocument/2006/customXml" ds:itemID="{927BD4C1-B6B1-4715-ABF9-E660A51A4EA0}">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9471</Words>
  <Application>WPS Presentation</Application>
  <PresentationFormat>Widescreen</PresentationFormat>
  <Paragraphs>187</Paragraphs>
  <Slides>26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26</vt:i4>
      </vt:variant>
    </vt:vector>
  </HeadingPairs>
  <TitlesOfParts>
    <vt:vector size="39" baseType="lpstr">
      <vt:lpstr>Arial</vt:lpstr>
      <vt:lpstr>SimSun</vt:lpstr>
      <vt:lpstr>Wingdings</vt:lpstr>
      <vt:lpstr>Wingdings 2</vt:lpstr>
      <vt:lpstr>Arial</vt:lpstr>
      <vt:lpstr>Calibri</vt:lpstr>
      <vt:lpstr>Calibri Light</vt:lpstr>
      <vt:lpstr>Microsoft YaHei</vt:lpstr>
      <vt:lpstr>Arial Unicode MS</vt:lpstr>
      <vt:lpstr>Franklin Gothic Demi</vt:lpstr>
      <vt:lpstr>Franklin Gothic Book</vt:lpstr>
      <vt:lpstr>华文中宋</vt:lpstr>
      <vt:lpstr>DividendVTI</vt:lpstr>
      <vt:lpstr>Employee Salary Prediction</vt:lpstr>
      <vt:lpstr>OUTLINE</vt:lpstr>
      <vt:lpstr>Problem Statement</vt:lpstr>
      <vt:lpstr>System  Approach</vt:lpstr>
      <vt:lpstr>PowerPoint 演示文稿</vt:lpstr>
      <vt:lpstr>PowerPoint 演示文稿</vt:lpstr>
      <vt:lpstr>Algorithm &amp; Deployment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Result</vt:lpstr>
      <vt:lpstr>PowerPoint 演示文稿</vt:lpstr>
      <vt:lpstr>PowerPoint 演示文稿</vt:lpstr>
      <vt:lpstr>PowerPoint 演示文稿</vt:lpstr>
      <vt:lpstr>PowerPoint 演示文稿</vt:lpstr>
      <vt:lpstr>PowerPoint 演示文稿</vt:lpstr>
      <vt:lpstr>Conclusion</vt:lpstr>
      <vt:lpstr>PowerPoint 演示文稿</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Mr. Ayush</cp:lastModifiedBy>
  <cp:revision>51</cp:revision>
  <dcterms:created xsi:type="dcterms:W3CDTF">2021-05-26T16:50:00Z</dcterms:created>
  <dcterms:modified xsi:type="dcterms:W3CDTF">2025-07-23T13:46:07Z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946C9EF111A4434DA57E832C18A812E6_12</vt:lpwstr>
  </property>
  <property fmtid="{D5CDD505-2E9C-101B-9397-08002B2CF9AE}" pid="4" name="KSOProductBuildVer">
    <vt:lpwstr>1033-12.2.0.21931</vt:lpwstr>
  </property>
</Properties>
</file>